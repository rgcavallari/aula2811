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67" r:id="rId2"/>
    <p:sldId id="279" r:id="rId3"/>
    <p:sldId id="299" r:id="rId4"/>
    <p:sldId id="300" r:id="rId5"/>
    <p:sldId id="301" r:id="rId6"/>
    <p:sldId id="303" r:id="rId7"/>
    <p:sldId id="302" r:id="rId8"/>
    <p:sldId id="304" r:id="rId9"/>
    <p:sldId id="305" r:id="rId10"/>
    <p:sldId id="306" r:id="rId11"/>
    <p:sldId id="307" r:id="rId12"/>
    <p:sldId id="309" r:id="rId13"/>
    <p:sldId id="310" r:id="rId14"/>
    <p:sldId id="311" r:id="rId15"/>
    <p:sldId id="262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Helvetica Neue" panose="020B0604020202020204" charset="0"/>
      <p:regular r:id="rId22"/>
      <p:bold r:id="rId23"/>
      <p:italic r:id="rId24"/>
      <p:boldItalic r:id="rId25"/>
    </p:embeddedFont>
    <p:embeddedFont>
      <p:font typeface="Helvetica Neue Light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jqC4V14mZDncLu29EHuHxRSTKK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pt-BR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‹nº›</a:t>
            </a:fld>
            <a:endParaRPr sz="12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9608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366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1634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9693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9696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7828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7674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6218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0862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1304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5542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741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lang="pt-B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6264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0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body" idx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sz="27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sz="27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sz="27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sz="27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None/>
              <a:defRPr sz="2700"/>
            </a:lvl5pPr>
            <a:lvl6pPr marL="2743200" lvl="5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34624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>
  <p:cSld name="Em branco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34624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34624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5"/>
          <p:cNvSpPr txBox="1">
            <a:spLocks noGrp="1"/>
          </p:cNvSpPr>
          <p:nvPr>
            <p:ph type="title"/>
          </p:nvPr>
        </p:nvSpPr>
        <p:spPr>
          <a:xfrm>
            <a:off x="844550" y="450362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34624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6"/>
          <p:cNvSpPr>
            <a:spLocks noGrp="1"/>
          </p:cNvSpPr>
          <p:nvPr>
            <p:ph type="pic" idx="2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79412" algn="l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Helvetica Neue"/>
              <a:buChar char="•"/>
              <a:defRPr sz="1900"/>
            </a:lvl1pPr>
            <a:lvl2pPr marL="914400" lvl="1" indent="-379412" algn="l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Helvetica Neue"/>
              <a:buChar char="•"/>
              <a:defRPr sz="1900"/>
            </a:lvl2pPr>
            <a:lvl3pPr marL="1371600" lvl="2" indent="-379412" algn="l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Helvetica Neue"/>
              <a:buChar char="•"/>
              <a:defRPr sz="1900"/>
            </a:lvl3pPr>
            <a:lvl4pPr marL="1828800" lvl="3" indent="-379412" algn="l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Helvetica Neue"/>
              <a:buChar char="•"/>
              <a:defRPr sz="1900"/>
            </a:lvl4pPr>
            <a:lvl5pPr marL="2286000" lvl="4" indent="-379412" algn="l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Helvetica Neue"/>
              <a:buChar char="•"/>
              <a:defRPr sz="1900"/>
            </a:lvl5pPr>
            <a:lvl6pPr marL="2743200" lvl="5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34624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7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4191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Char char="•"/>
              <a:defRPr sz="2400"/>
            </a:lvl1pPr>
            <a:lvl2pPr marL="914400" lvl="1" indent="-4191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Char char="•"/>
              <a:defRPr sz="2400"/>
            </a:lvl2pPr>
            <a:lvl3pPr marL="1371600" lvl="2" indent="-4191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Char char="•"/>
              <a:defRPr sz="2400"/>
            </a:lvl3pPr>
            <a:lvl4pPr marL="1828800" lvl="3" indent="-4191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Char char="•"/>
              <a:defRPr sz="2400"/>
            </a:lvl4pPr>
            <a:lvl5pPr marL="2286000" lvl="4" indent="-4191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Char char="•"/>
              <a:defRPr sz="2400"/>
            </a:lvl5pPr>
            <a:lvl6pPr marL="2743200" lvl="5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34624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8"/>
          <p:cNvSpPr>
            <a:spLocks noGrp="1"/>
          </p:cNvSpPr>
          <p:nvPr>
            <p:ph type="pic" idx="2"/>
          </p:nvPr>
        </p:nvSpPr>
        <p:spPr>
          <a:xfrm>
            <a:off x="7880350" y="3524250"/>
            <a:ext cx="3702050" cy="277495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28"/>
          <p:cNvSpPr>
            <a:spLocks noGrp="1"/>
          </p:cNvSpPr>
          <p:nvPr>
            <p:ph type="pic" idx="3"/>
          </p:nvPr>
        </p:nvSpPr>
        <p:spPr>
          <a:xfrm>
            <a:off x="7880350" y="565150"/>
            <a:ext cx="3702050" cy="277495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28"/>
          <p:cNvSpPr>
            <a:spLocks noGrp="1"/>
          </p:cNvSpPr>
          <p:nvPr>
            <p:ph type="pic" idx="4"/>
          </p:nvPr>
        </p:nvSpPr>
        <p:spPr>
          <a:xfrm>
            <a:off x="603250" y="565150"/>
            <a:ext cx="7086600" cy="573405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28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34624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9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34624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e conteúdo" type="obj">
  <p:cSld name="OBJEC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0"/>
          <p:cNvSpPr txBox="1">
            <a:spLocks noGrp="1"/>
          </p:cNvSpPr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  <a:defRPr sz="30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34624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marR="0" lvl="0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34624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rafael.cavallari@anchieta.br" TargetMode="External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google.com.br/url?sa=i&amp;rct=j&amp;q=&amp;esrc=s&amp;source=images&amp;cd=&amp;cad=rja&amp;uact=8&amp;ved=0ahUKEwiT24f9rf_UAhXGI5AKHYCzCqQQjRwIBw&amp;url=http://www.agmarrios.com.br/p/contatos_13.html&amp;psig=AFQjCNF-CX4p_vZhAe57lxbWeG-D_tpjtQ&amp;ust=1499798229696288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>
            <a:spLocks noGrp="1"/>
          </p:cNvSpPr>
          <p:nvPr>
            <p:ph type="title"/>
          </p:nvPr>
        </p:nvSpPr>
        <p:spPr>
          <a:xfrm>
            <a:off x="551384" y="2086122"/>
            <a:ext cx="6028092" cy="1827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pt-BR" b="1" dirty="0">
                <a:solidFill>
                  <a:srgbClr val="002060"/>
                </a:solidFill>
              </a:rPr>
              <a:t>Revisão</a:t>
            </a:r>
            <a:endParaRPr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>
            <a:spLocks noGrp="1"/>
          </p:cNvSpPr>
          <p:nvPr>
            <p:ph type="title" idx="4294967295"/>
          </p:nvPr>
        </p:nvSpPr>
        <p:spPr>
          <a:xfrm>
            <a:off x="335360" y="18864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pt-BR" b="1" dirty="0" err="1">
                <a:solidFill>
                  <a:srgbClr val="002060"/>
                </a:solidFill>
              </a:rPr>
              <a:t>Backend</a:t>
            </a:r>
            <a:r>
              <a:rPr lang="pt-BR" b="1" dirty="0">
                <a:solidFill>
                  <a:srgbClr val="002060"/>
                </a:solidFill>
              </a:rPr>
              <a:t> com Python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4294967295"/>
          </p:nvPr>
        </p:nvSpPr>
        <p:spPr>
          <a:xfrm>
            <a:off x="471644" y="1331640"/>
            <a:ext cx="10459115" cy="4953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buSzPct val="100000"/>
            </a:pPr>
            <a:r>
              <a:rPr lang="pt-BR" sz="2500" dirty="0"/>
              <a:t>Responsável pela lógica da aplicação: regras de negócio, cálculos, validações e fluxo interno.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SzPct val="100000"/>
            </a:pPr>
            <a:r>
              <a:rPr lang="pt-BR" sz="2500" dirty="0"/>
              <a:t>Gerencia dados e integrações: comunicação com bancos de dados (</a:t>
            </a:r>
            <a:r>
              <a:rPr lang="pt-BR" sz="2500" dirty="0" err="1"/>
              <a:t>SQLite</a:t>
            </a:r>
            <a:r>
              <a:rPr lang="pt-BR" sz="2500" dirty="0"/>
              <a:t>, </a:t>
            </a:r>
            <a:r>
              <a:rPr lang="pt-BR" sz="2500" dirty="0" err="1"/>
              <a:t>Alchemy</a:t>
            </a:r>
            <a:r>
              <a:rPr lang="pt-BR" sz="2500" dirty="0"/>
              <a:t>, PostgreSQL, </a:t>
            </a:r>
            <a:r>
              <a:rPr lang="pt-BR" sz="2500" dirty="0" err="1"/>
              <a:t>MongoDB</a:t>
            </a:r>
            <a:r>
              <a:rPr lang="pt-BR" sz="2500" dirty="0"/>
              <a:t>) e APIs externas.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SzPct val="100000"/>
            </a:pPr>
            <a:r>
              <a:rPr lang="pt-BR" sz="2500" dirty="0"/>
              <a:t>Constrói APIs e serviços web: uso de frameworks como </a:t>
            </a:r>
            <a:r>
              <a:rPr lang="pt-BR" sz="2500" dirty="0" err="1"/>
              <a:t>Flask</a:t>
            </a:r>
            <a:r>
              <a:rPr lang="pt-BR" sz="2500" dirty="0"/>
              <a:t>, </a:t>
            </a:r>
            <a:r>
              <a:rPr lang="pt-BR" sz="2500" dirty="0" err="1"/>
              <a:t>FastAPI</a:t>
            </a:r>
            <a:r>
              <a:rPr lang="pt-BR" sz="2500" dirty="0"/>
              <a:t> e Django.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SzPct val="100000"/>
            </a:pPr>
            <a:r>
              <a:rPr lang="pt-BR" sz="2500" dirty="0"/>
              <a:t>Garante segurança e autenticação: tokens, </a:t>
            </a:r>
            <a:r>
              <a:rPr lang="pt-BR" sz="2500" dirty="0" err="1"/>
              <a:t>JWT</a:t>
            </a:r>
            <a:r>
              <a:rPr lang="pt-BR" sz="2500" dirty="0"/>
              <a:t>, sessões, controle de acesso.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SzPct val="100000"/>
            </a:pPr>
            <a:r>
              <a:rPr lang="pt-BR" sz="2500" dirty="0"/>
              <a:t>Processa tarefas complexas: filas, automações, scripts, análise de dados.</a:t>
            </a:r>
          </a:p>
        </p:txBody>
      </p:sp>
      <p:cxnSp>
        <p:nvCxnSpPr>
          <p:cNvPr id="8" name="Google Shape;86;g2205ff42217_0_3">
            <a:extLst>
              <a:ext uri="{FF2B5EF4-FFF2-40B4-BE49-F238E27FC236}">
                <a16:creationId xmlns:a16="http://schemas.microsoft.com/office/drawing/2014/main" id="{85A4C7DD-3CBA-4F69-BC2E-5DB2D9994AAF}"/>
              </a:ext>
            </a:extLst>
          </p:cNvPr>
          <p:cNvCxnSpPr>
            <a:cxnSpLocks/>
          </p:cNvCxnSpPr>
          <p:nvPr/>
        </p:nvCxnSpPr>
        <p:spPr>
          <a:xfrm>
            <a:off x="471644" y="1331640"/>
            <a:ext cx="1122637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62921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>
            <a:spLocks noGrp="1"/>
          </p:cNvSpPr>
          <p:nvPr>
            <p:ph type="title" idx="4294967295"/>
          </p:nvPr>
        </p:nvSpPr>
        <p:spPr>
          <a:xfrm>
            <a:off x="335360" y="188640"/>
            <a:ext cx="105231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pt-BR" b="1" dirty="0">
                <a:solidFill>
                  <a:srgbClr val="002060"/>
                </a:solidFill>
              </a:rPr>
              <a:t>Criando um projeto simples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4294967295"/>
          </p:nvPr>
        </p:nvSpPr>
        <p:spPr>
          <a:xfrm>
            <a:off x="471644" y="1590879"/>
            <a:ext cx="11142287" cy="78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22225" indent="0">
              <a:buSzPct val="100000"/>
              <a:buNone/>
            </a:pPr>
            <a:r>
              <a:rPr lang="pt-BR" sz="2200" dirty="0"/>
              <a:t>Abra o </a:t>
            </a:r>
            <a:r>
              <a:rPr lang="pt-BR" sz="2200" dirty="0" err="1"/>
              <a:t>Git</a:t>
            </a:r>
            <a:r>
              <a:rPr lang="pt-BR" sz="2200" dirty="0"/>
              <a:t>, vá ao desktop e crie a pasta aplicativo:</a:t>
            </a:r>
          </a:p>
        </p:txBody>
      </p:sp>
      <p:cxnSp>
        <p:nvCxnSpPr>
          <p:cNvPr id="8" name="Google Shape;86;g2205ff42217_0_3">
            <a:extLst>
              <a:ext uri="{FF2B5EF4-FFF2-40B4-BE49-F238E27FC236}">
                <a16:creationId xmlns:a16="http://schemas.microsoft.com/office/drawing/2014/main" id="{85A4C7DD-3CBA-4F69-BC2E-5DB2D9994AAF}"/>
              </a:ext>
            </a:extLst>
          </p:cNvPr>
          <p:cNvCxnSpPr>
            <a:cxnSpLocks/>
          </p:cNvCxnSpPr>
          <p:nvPr/>
        </p:nvCxnSpPr>
        <p:spPr>
          <a:xfrm>
            <a:off x="471644" y="1331640"/>
            <a:ext cx="1114228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2ED608A6-68DB-4A1E-A623-EB8ED5CAA4A2}"/>
              </a:ext>
            </a:extLst>
          </p:cNvPr>
          <p:cNvSpPr/>
          <p:nvPr/>
        </p:nvSpPr>
        <p:spPr>
          <a:xfrm>
            <a:off x="8628993" y="2474640"/>
            <a:ext cx="3310759" cy="1439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200" dirty="0" err="1"/>
              <a:t>mkdir</a:t>
            </a:r>
            <a:r>
              <a:rPr lang="pt-BR" sz="2200" dirty="0"/>
              <a:t> cria a pasta</a:t>
            </a:r>
          </a:p>
          <a:p>
            <a:pPr algn="ctr"/>
            <a:r>
              <a:rPr lang="pt-BR" sz="2200" dirty="0" err="1"/>
              <a:t>cd</a:t>
            </a:r>
            <a:r>
              <a:rPr lang="pt-BR" sz="2200" dirty="0"/>
              <a:t> acessa a pasta</a:t>
            </a:r>
          </a:p>
          <a:p>
            <a:pPr algn="ctr"/>
            <a:r>
              <a:rPr lang="pt-BR" sz="2200" dirty="0" err="1"/>
              <a:t>touch</a:t>
            </a:r>
            <a:r>
              <a:rPr lang="pt-BR" sz="2200" dirty="0"/>
              <a:t> cria o arquivo</a:t>
            </a:r>
          </a:p>
          <a:p>
            <a:pPr algn="ctr"/>
            <a:r>
              <a:rPr lang="pt-BR" sz="2200" dirty="0" err="1"/>
              <a:t>code</a:t>
            </a:r>
            <a:r>
              <a:rPr lang="pt-BR" sz="2200" dirty="0"/>
              <a:t> abre no VS </a:t>
            </a:r>
            <a:r>
              <a:rPr lang="pt-BR" sz="2200" dirty="0" err="1"/>
              <a:t>Code</a:t>
            </a:r>
            <a:endParaRPr lang="pt-BR" sz="22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7B2B9F8-BEAF-4EA7-953B-02CD7C729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3" y="2474640"/>
            <a:ext cx="7957653" cy="414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99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>
            <a:spLocks noGrp="1"/>
          </p:cNvSpPr>
          <p:nvPr>
            <p:ph type="title" idx="4294967295"/>
          </p:nvPr>
        </p:nvSpPr>
        <p:spPr>
          <a:xfrm>
            <a:off x="335360" y="188640"/>
            <a:ext cx="105231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pt-BR" b="1" dirty="0">
                <a:solidFill>
                  <a:srgbClr val="002060"/>
                </a:solidFill>
              </a:rPr>
              <a:t>Estrutura do projeto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4294967295"/>
          </p:nvPr>
        </p:nvSpPr>
        <p:spPr>
          <a:xfrm>
            <a:off x="471644" y="1590879"/>
            <a:ext cx="11142287" cy="78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22225" indent="0">
              <a:buSzPct val="100000"/>
              <a:buNone/>
            </a:pPr>
            <a:r>
              <a:rPr lang="pt-BR" sz="2200" dirty="0"/>
              <a:t>Vamos criar uma aplicação com </a:t>
            </a:r>
            <a:r>
              <a:rPr lang="pt-BR" sz="2200" dirty="0" err="1"/>
              <a:t>Flask</a:t>
            </a:r>
            <a:r>
              <a:rPr lang="pt-BR" sz="2200" dirty="0"/>
              <a:t>, para integrar HTML e Python.</a:t>
            </a:r>
          </a:p>
        </p:txBody>
      </p:sp>
      <p:cxnSp>
        <p:nvCxnSpPr>
          <p:cNvPr id="8" name="Google Shape;86;g2205ff42217_0_3">
            <a:extLst>
              <a:ext uri="{FF2B5EF4-FFF2-40B4-BE49-F238E27FC236}">
                <a16:creationId xmlns:a16="http://schemas.microsoft.com/office/drawing/2014/main" id="{85A4C7DD-3CBA-4F69-BC2E-5DB2D9994AAF}"/>
              </a:ext>
            </a:extLst>
          </p:cNvPr>
          <p:cNvCxnSpPr>
            <a:cxnSpLocks/>
          </p:cNvCxnSpPr>
          <p:nvPr/>
        </p:nvCxnSpPr>
        <p:spPr>
          <a:xfrm>
            <a:off x="471644" y="1331640"/>
            <a:ext cx="1114228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2ED608A6-68DB-4A1E-A623-EB8ED5CAA4A2}"/>
              </a:ext>
            </a:extLst>
          </p:cNvPr>
          <p:cNvSpPr/>
          <p:nvPr/>
        </p:nvSpPr>
        <p:spPr>
          <a:xfrm>
            <a:off x="5401656" y="2474640"/>
            <a:ext cx="5360937" cy="2792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200" dirty="0"/>
              <a:t>Vamos importar, da biblioteca </a:t>
            </a:r>
            <a:r>
              <a:rPr lang="pt-BR" sz="2200" dirty="0" err="1"/>
              <a:t>Flask</a:t>
            </a:r>
            <a:r>
              <a:rPr lang="pt-BR" sz="2200" dirty="0"/>
              <a:t>, o </a:t>
            </a:r>
            <a:r>
              <a:rPr lang="pt-BR" sz="2200" dirty="0" err="1"/>
              <a:t>render_templates</a:t>
            </a:r>
            <a:r>
              <a:rPr lang="pt-BR" sz="2200" dirty="0"/>
              <a:t>, que busca, na pasta </a:t>
            </a:r>
            <a:r>
              <a:rPr lang="pt-BR" sz="2200" dirty="0" err="1"/>
              <a:t>templates</a:t>
            </a:r>
            <a:r>
              <a:rPr lang="pt-BR" sz="2200" dirty="0"/>
              <a:t>, as páginas específicas para cada função do aplicativo.</a:t>
            </a:r>
          </a:p>
          <a:p>
            <a:pPr algn="ctr"/>
            <a:endParaRPr lang="pt-BR" sz="2200" dirty="0"/>
          </a:p>
          <a:p>
            <a:pPr algn="ctr"/>
            <a:r>
              <a:rPr lang="pt-BR" sz="2200" dirty="0"/>
              <a:t>Devemos, portanto, garantir a instalação do </a:t>
            </a:r>
            <a:r>
              <a:rPr lang="pt-BR" sz="2200" dirty="0" err="1"/>
              <a:t>Flask</a:t>
            </a:r>
            <a:r>
              <a:rPr lang="pt-BR" sz="2200" dirty="0"/>
              <a:t> no </a:t>
            </a:r>
            <a:r>
              <a:rPr lang="pt-BR" sz="2200" dirty="0" err="1"/>
              <a:t>requirements.txt</a:t>
            </a:r>
            <a:endParaRPr lang="pt-BR" sz="2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E41D819-7196-4B16-9CB8-00D59EEE6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3" y="2474640"/>
            <a:ext cx="4426177" cy="29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8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>
            <a:spLocks noGrp="1"/>
          </p:cNvSpPr>
          <p:nvPr>
            <p:ph type="title" idx="4294967295"/>
          </p:nvPr>
        </p:nvSpPr>
        <p:spPr>
          <a:xfrm>
            <a:off x="335360" y="188640"/>
            <a:ext cx="105231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pt-BR" b="1" dirty="0">
                <a:solidFill>
                  <a:srgbClr val="002060"/>
                </a:solidFill>
              </a:rPr>
              <a:t>O papel do </a:t>
            </a:r>
            <a:r>
              <a:rPr lang="pt-BR" b="1" dirty="0" err="1">
                <a:solidFill>
                  <a:srgbClr val="002060"/>
                </a:solidFill>
              </a:rPr>
              <a:t>Flask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4294967295"/>
          </p:nvPr>
        </p:nvSpPr>
        <p:spPr>
          <a:xfrm rot="10800000" flipV="1">
            <a:off x="471643" y="1481960"/>
            <a:ext cx="8325515" cy="4172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22225" indent="0">
              <a:buSzPct val="100000"/>
              <a:buNone/>
            </a:pPr>
            <a:r>
              <a:rPr lang="pt-BR" sz="2200" dirty="0"/>
              <a:t>Sobe o servidor web.</a:t>
            </a:r>
          </a:p>
          <a:p>
            <a:pPr marL="22225" indent="0">
              <a:buSzPct val="100000"/>
              <a:buNone/>
            </a:pPr>
            <a:r>
              <a:rPr lang="pt-BR" sz="2200" dirty="0"/>
              <a:t>Define rotas (@</a:t>
            </a:r>
            <a:r>
              <a:rPr lang="pt-BR" sz="2200" dirty="0" err="1"/>
              <a:t>app.route</a:t>
            </a:r>
            <a:r>
              <a:rPr lang="pt-BR" sz="2200" dirty="0"/>
              <a:t>).</a:t>
            </a:r>
          </a:p>
          <a:p>
            <a:pPr marL="22225" indent="0">
              <a:buSzPct val="100000"/>
              <a:buNone/>
            </a:pPr>
            <a:r>
              <a:rPr lang="pt-BR" sz="2200" dirty="0"/>
              <a:t>Renderiza </a:t>
            </a:r>
            <a:r>
              <a:rPr lang="pt-BR" sz="2200" dirty="0" err="1"/>
              <a:t>templates</a:t>
            </a:r>
            <a:r>
              <a:rPr lang="pt-BR" sz="2200" dirty="0"/>
              <a:t> (</a:t>
            </a:r>
            <a:r>
              <a:rPr lang="pt-BR" sz="2200" dirty="0" err="1"/>
              <a:t>render_template</a:t>
            </a:r>
            <a:r>
              <a:rPr lang="pt-BR" sz="2200" dirty="0"/>
              <a:t>).</a:t>
            </a:r>
          </a:p>
          <a:p>
            <a:pPr marL="22225" indent="0">
              <a:buSzPct val="100000"/>
              <a:buNone/>
            </a:pPr>
            <a:r>
              <a:rPr lang="pt-BR" sz="2200" dirty="0"/>
              <a:t>Lida com formulários (</a:t>
            </a:r>
            <a:r>
              <a:rPr lang="pt-BR" sz="2200" dirty="0" err="1"/>
              <a:t>request</a:t>
            </a:r>
            <a:r>
              <a:rPr lang="pt-BR" sz="2200" dirty="0"/>
              <a:t>).</a:t>
            </a:r>
          </a:p>
          <a:p>
            <a:pPr marL="22225" indent="0">
              <a:buSzPct val="100000"/>
              <a:buNone/>
            </a:pPr>
            <a:r>
              <a:rPr lang="pt-BR" sz="2200" dirty="0"/>
              <a:t>Faz redirecionamentos (</a:t>
            </a:r>
            <a:r>
              <a:rPr lang="pt-BR" sz="2200" dirty="0" err="1"/>
              <a:t>redirect</a:t>
            </a:r>
            <a:r>
              <a:rPr lang="pt-BR" sz="2200" dirty="0"/>
              <a:t>, </a:t>
            </a:r>
            <a:r>
              <a:rPr lang="pt-BR" sz="2200" dirty="0" err="1"/>
              <a:t>url_for</a:t>
            </a:r>
            <a:r>
              <a:rPr lang="pt-BR" sz="2200" dirty="0"/>
              <a:t>).</a:t>
            </a:r>
          </a:p>
          <a:p>
            <a:pPr marL="22225" indent="0">
              <a:buSzPct val="100000"/>
              <a:buNone/>
            </a:pPr>
            <a:r>
              <a:rPr lang="pt-BR" sz="2200" dirty="0"/>
              <a:t>Exibe mensagens temporárias para o usuário (flash).</a:t>
            </a:r>
          </a:p>
        </p:txBody>
      </p:sp>
      <p:cxnSp>
        <p:nvCxnSpPr>
          <p:cNvPr id="8" name="Google Shape;86;g2205ff42217_0_3">
            <a:extLst>
              <a:ext uri="{FF2B5EF4-FFF2-40B4-BE49-F238E27FC236}">
                <a16:creationId xmlns:a16="http://schemas.microsoft.com/office/drawing/2014/main" id="{85A4C7DD-3CBA-4F69-BC2E-5DB2D9994AAF}"/>
              </a:ext>
            </a:extLst>
          </p:cNvPr>
          <p:cNvCxnSpPr>
            <a:cxnSpLocks/>
          </p:cNvCxnSpPr>
          <p:nvPr/>
        </p:nvCxnSpPr>
        <p:spPr>
          <a:xfrm>
            <a:off x="471644" y="1331640"/>
            <a:ext cx="1114228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2ED608A6-68DB-4A1E-A623-EB8ED5CAA4A2}"/>
              </a:ext>
            </a:extLst>
          </p:cNvPr>
          <p:cNvSpPr/>
          <p:nvPr/>
        </p:nvSpPr>
        <p:spPr>
          <a:xfrm>
            <a:off x="7073462" y="2350971"/>
            <a:ext cx="4540469" cy="21560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200" dirty="0"/>
              <a:t>Para cada projeto que você for desenvolver, é necessário pesquisar e estudar quais são as funcionalidades adequadas dentro da linguagem escolhida. </a:t>
            </a:r>
          </a:p>
        </p:txBody>
      </p:sp>
    </p:spTree>
    <p:extLst>
      <p:ext uri="{BB962C8B-B14F-4D97-AF65-F5344CB8AC3E}">
        <p14:creationId xmlns:p14="http://schemas.microsoft.com/office/powerpoint/2010/main" val="146383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uild="p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>
            <a:spLocks noGrp="1"/>
          </p:cNvSpPr>
          <p:nvPr>
            <p:ph type="title" idx="4294967295"/>
          </p:nvPr>
        </p:nvSpPr>
        <p:spPr>
          <a:xfrm>
            <a:off x="335360" y="188640"/>
            <a:ext cx="105231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pt-BR" b="1" dirty="0">
                <a:solidFill>
                  <a:srgbClr val="002060"/>
                </a:solidFill>
              </a:rPr>
              <a:t>Completando o projeto</a:t>
            </a:r>
            <a:endParaRPr dirty="0">
              <a:solidFill>
                <a:srgbClr val="002060"/>
              </a:solidFill>
            </a:endParaRPr>
          </a:p>
        </p:txBody>
      </p:sp>
      <p:cxnSp>
        <p:nvCxnSpPr>
          <p:cNvPr id="8" name="Google Shape;86;g2205ff42217_0_3">
            <a:extLst>
              <a:ext uri="{FF2B5EF4-FFF2-40B4-BE49-F238E27FC236}">
                <a16:creationId xmlns:a16="http://schemas.microsoft.com/office/drawing/2014/main" id="{85A4C7DD-3CBA-4F69-BC2E-5DB2D9994AAF}"/>
              </a:ext>
            </a:extLst>
          </p:cNvPr>
          <p:cNvCxnSpPr>
            <a:cxnSpLocks/>
          </p:cNvCxnSpPr>
          <p:nvPr/>
        </p:nvCxnSpPr>
        <p:spPr>
          <a:xfrm>
            <a:off x="471644" y="1331640"/>
            <a:ext cx="1114228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BE224956-DCE6-4A60-AF82-C82CA4988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4" y="1729613"/>
            <a:ext cx="7842039" cy="4282533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CC225399-C307-4311-8AE2-A1E9E246A2B1}"/>
              </a:ext>
            </a:extLst>
          </p:cNvPr>
          <p:cNvSpPr/>
          <p:nvPr/>
        </p:nvSpPr>
        <p:spPr>
          <a:xfrm>
            <a:off x="8502869" y="2590254"/>
            <a:ext cx="3111062" cy="2792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200" dirty="0"/>
              <a:t>O comando “</a:t>
            </a:r>
            <a:r>
              <a:rPr lang="pt-BR" sz="2200" dirty="0" err="1"/>
              <a:t>code</a:t>
            </a:r>
            <a:r>
              <a:rPr lang="pt-BR" sz="2200" dirty="0"/>
              <a:t> + &lt;nome do arquivo&gt;” abre os arquivos no VS </a:t>
            </a:r>
            <a:r>
              <a:rPr lang="pt-BR" sz="2200" dirty="0" err="1"/>
              <a:t>Code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156658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>
            <a:spLocks noGrp="1"/>
          </p:cNvSpPr>
          <p:nvPr>
            <p:ph type="title" idx="4294967295"/>
          </p:nvPr>
        </p:nvSpPr>
        <p:spPr>
          <a:xfrm>
            <a:off x="335360" y="188640"/>
            <a:ext cx="105231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pt-BR" b="1" dirty="0">
                <a:solidFill>
                  <a:srgbClr val="002060"/>
                </a:solidFill>
              </a:rPr>
              <a:t>Rodando a aplicação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4294967295"/>
          </p:nvPr>
        </p:nvSpPr>
        <p:spPr>
          <a:xfrm>
            <a:off x="471643" y="1330661"/>
            <a:ext cx="11142287" cy="78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22225" indent="0">
              <a:buSzPct val="100000"/>
              <a:buNone/>
            </a:pPr>
            <a:r>
              <a:rPr lang="pt-BR" sz="2200" dirty="0"/>
              <a:t>Volte na pasta em que está o </a:t>
            </a:r>
            <a:r>
              <a:rPr lang="pt-BR" sz="2200" dirty="0" err="1"/>
              <a:t>app.py</a:t>
            </a:r>
            <a:r>
              <a:rPr lang="pt-BR" sz="2200" dirty="0"/>
              <a:t> e instale as requisições.</a:t>
            </a:r>
          </a:p>
        </p:txBody>
      </p:sp>
      <p:cxnSp>
        <p:nvCxnSpPr>
          <p:cNvPr id="8" name="Google Shape;86;g2205ff42217_0_3">
            <a:extLst>
              <a:ext uri="{FF2B5EF4-FFF2-40B4-BE49-F238E27FC236}">
                <a16:creationId xmlns:a16="http://schemas.microsoft.com/office/drawing/2014/main" id="{85A4C7DD-3CBA-4F69-BC2E-5DB2D9994AAF}"/>
              </a:ext>
            </a:extLst>
          </p:cNvPr>
          <p:cNvCxnSpPr>
            <a:cxnSpLocks/>
          </p:cNvCxnSpPr>
          <p:nvPr/>
        </p:nvCxnSpPr>
        <p:spPr>
          <a:xfrm>
            <a:off x="471644" y="1331640"/>
            <a:ext cx="1114228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94D0251D-F0FB-4560-B3D7-742CD7868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541" y="2159639"/>
            <a:ext cx="8634044" cy="1269361"/>
          </a:xfrm>
          <a:prstGeom prst="rect">
            <a:avLst/>
          </a:prstGeom>
        </p:spPr>
      </p:pic>
      <p:sp>
        <p:nvSpPr>
          <p:cNvPr id="9" name="Google Shape;107;p7">
            <a:extLst>
              <a:ext uri="{FF2B5EF4-FFF2-40B4-BE49-F238E27FC236}">
                <a16:creationId xmlns:a16="http://schemas.microsoft.com/office/drawing/2014/main" id="{250AE7D2-060C-4851-B2FC-49CD8674DC2B}"/>
              </a:ext>
            </a:extLst>
          </p:cNvPr>
          <p:cNvSpPr txBox="1">
            <a:spLocks/>
          </p:cNvSpPr>
          <p:nvPr/>
        </p:nvSpPr>
        <p:spPr>
          <a:xfrm>
            <a:off x="471642" y="3253527"/>
            <a:ext cx="11142287" cy="78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22225" indent="0">
              <a:buSzPct val="100000"/>
              <a:buFont typeface="Helvetica Neue"/>
              <a:buNone/>
            </a:pPr>
            <a:r>
              <a:rPr lang="pt-BR" sz="2200" dirty="0"/>
              <a:t>Rode a aplicação.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ABE7A1A-C762-4B7D-9B8C-171451873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3158" y="4260907"/>
            <a:ext cx="8405683" cy="217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866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>
            <a:spLocks noGrp="1"/>
          </p:cNvSpPr>
          <p:nvPr>
            <p:ph type="title" idx="4294967295"/>
          </p:nvPr>
        </p:nvSpPr>
        <p:spPr>
          <a:xfrm>
            <a:off x="335360" y="188640"/>
            <a:ext cx="105231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pt-BR" b="1" dirty="0">
                <a:solidFill>
                  <a:srgbClr val="002060"/>
                </a:solidFill>
              </a:rPr>
              <a:t>Subindo para o GitHub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4294967295"/>
          </p:nvPr>
        </p:nvSpPr>
        <p:spPr>
          <a:xfrm>
            <a:off x="471643" y="1330661"/>
            <a:ext cx="11142287" cy="78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22225" indent="0">
              <a:buSzPct val="100000"/>
              <a:buNone/>
            </a:pPr>
            <a:r>
              <a:rPr lang="pt-BR" sz="2200" dirty="0"/>
              <a:t>Vá ao GitHub e crie um repositório. Não crie o </a:t>
            </a:r>
            <a:r>
              <a:rPr lang="pt-BR" sz="2200" dirty="0" err="1"/>
              <a:t>readme.md</a:t>
            </a:r>
            <a:r>
              <a:rPr lang="pt-BR" sz="2200" dirty="0"/>
              <a:t> ainda!</a:t>
            </a:r>
          </a:p>
        </p:txBody>
      </p:sp>
      <p:cxnSp>
        <p:nvCxnSpPr>
          <p:cNvPr id="8" name="Google Shape;86;g2205ff42217_0_3">
            <a:extLst>
              <a:ext uri="{FF2B5EF4-FFF2-40B4-BE49-F238E27FC236}">
                <a16:creationId xmlns:a16="http://schemas.microsoft.com/office/drawing/2014/main" id="{85A4C7DD-3CBA-4F69-BC2E-5DB2D9994AAF}"/>
              </a:ext>
            </a:extLst>
          </p:cNvPr>
          <p:cNvCxnSpPr>
            <a:cxnSpLocks/>
          </p:cNvCxnSpPr>
          <p:nvPr/>
        </p:nvCxnSpPr>
        <p:spPr>
          <a:xfrm>
            <a:off x="471644" y="1331640"/>
            <a:ext cx="1114228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717F5E16-7446-4693-B103-995A0A004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06" y="2332875"/>
            <a:ext cx="10363733" cy="36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16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>
            <a:spLocks noGrp="1"/>
          </p:cNvSpPr>
          <p:nvPr>
            <p:ph type="title" idx="4294967295"/>
          </p:nvPr>
        </p:nvSpPr>
        <p:spPr>
          <a:xfrm>
            <a:off x="335360" y="188640"/>
            <a:ext cx="105231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pt-BR" b="1" dirty="0">
                <a:solidFill>
                  <a:srgbClr val="002060"/>
                </a:solidFill>
              </a:rPr>
              <a:t>Subindo para o GitHub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4294967295"/>
          </p:nvPr>
        </p:nvSpPr>
        <p:spPr>
          <a:xfrm>
            <a:off x="471643" y="1330661"/>
            <a:ext cx="11142287" cy="78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22225" indent="0">
              <a:buSzPct val="100000"/>
              <a:buNone/>
            </a:pPr>
            <a:r>
              <a:rPr lang="pt-BR" sz="2200" dirty="0"/>
              <a:t>Vamos ao passo a passo. Vá ao </a:t>
            </a:r>
            <a:r>
              <a:rPr lang="pt-BR" sz="2200" dirty="0" err="1"/>
              <a:t>Git</a:t>
            </a:r>
            <a:r>
              <a:rPr lang="pt-BR" sz="2200" dirty="0"/>
              <a:t> </a:t>
            </a:r>
            <a:r>
              <a:rPr lang="pt-BR" sz="2200" dirty="0" err="1"/>
              <a:t>Bash</a:t>
            </a:r>
            <a:r>
              <a:rPr lang="pt-BR" sz="2200" dirty="0"/>
              <a:t>, na mesma pasta em que está o aplicativo.</a:t>
            </a:r>
          </a:p>
        </p:txBody>
      </p:sp>
      <p:cxnSp>
        <p:nvCxnSpPr>
          <p:cNvPr id="8" name="Google Shape;86;g2205ff42217_0_3">
            <a:extLst>
              <a:ext uri="{FF2B5EF4-FFF2-40B4-BE49-F238E27FC236}">
                <a16:creationId xmlns:a16="http://schemas.microsoft.com/office/drawing/2014/main" id="{85A4C7DD-3CBA-4F69-BC2E-5DB2D9994AAF}"/>
              </a:ext>
            </a:extLst>
          </p:cNvPr>
          <p:cNvCxnSpPr>
            <a:cxnSpLocks/>
          </p:cNvCxnSpPr>
          <p:nvPr/>
        </p:nvCxnSpPr>
        <p:spPr>
          <a:xfrm>
            <a:off x="471644" y="1331640"/>
            <a:ext cx="1114228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AD88DA7A-D55E-4F90-9983-59B617CDBBDB}"/>
              </a:ext>
            </a:extLst>
          </p:cNvPr>
          <p:cNvSpPr/>
          <p:nvPr/>
        </p:nvSpPr>
        <p:spPr>
          <a:xfrm>
            <a:off x="8502868" y="2473661"/>
            <a:ext cx="3111062" cy="2792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200" dirty="0" err="1"/>
              <a:t>git</a:t>
            </a:r>
            <a:r>
              <a:rPr lang="pt-BR" sz="2200" dirty="0"/>
              <a:t> </a:t>
            </a:r>
            <a:r>
              <a:rPr lang="pt-BR" sz="2200" dirty="0" err="1"/>
              <a:t>init</a:t>
            </a:r>
            <a:endParaRPr lang="pt-BR" sz="2200" dirty="0"/>
          </a:p>
          <a:p>
            <a:pPr algn="ctr"/>
            <a:r>
              <a:rPr lang="pt-BR" sz="2200" dirty="0" err="1"/>
              <a:t>git</a:t>
            </a:r>
            <a:r>
              <a:rPr lang="pt-BR" sz="2200" dirty="0"/>
              <a:t> </a:t>
            </a:r>
            <a:r>
              <a:rPr lang="pt-BR" sz="2200" dirty="0" err="1"/>
              <a:t>add</a:t>
            </a:r>
            <a:r>
              <a:rPr lang="pt-BR" sz="2200" dirty="0"/>
              <a:t> .</a:t>
            </a:r>
          </a:p>
          <a:p>
            <a:pPr algn="ctr"/>
            <a:r>
              <a:rPr lang="pt-BR" sz="2200" dirty="0" err="1"/>
              <a:t>git</a:t>
            </a:r>
            <a:r>
              <a:rPr lang="pt-BR" sz="2200" dirty="0"/>
              <a:t> </a:t>
            </a:r>
            <a:r>
              <a:rPr lang="pt-BR" sz="2200" dirty="0" err="1"/>
              <a:t>commit</a:t>
            </a:r>
            <a:endParaRPr lang="pt-BR" sz="2200" dirty="0"/>
          </a:p>
          <a:p>
            <a:pPr algn="ctr"/>
            <a:r>
              <a:rPr lang="pt-BR" sz="2200" dirty="0" err="1"/>
              <a:t>git</a:t>
            </a:r>
            <a:r>
              <a:rPr lang="pt-BR" sz="2200" dirty="0"/>
              <a:t> </a:t>
            </a:r>
            <a:r>
              <a:rPr lang="pt-BR" sz="2200" dirty="0" err="1"/>
              <a:t>remote</a:t>
            </a:r>
            <a:r>
              <a:rPr lang="pt-BR" sz="2200" dirty="0"/>
              <a:t> </a:t>
            </a:r>
            <a:r>
              <a:rPr lang="pt-BR" sz="2200" dirty="0" err="1"/>
              <a:t>add</a:t>
            </a:r>
            <a:endParaRPr lang="pt-BR" sz="2200" dirty="0"/>
          </a:p>
          <a:p>
            <a:pPr algn="ctr"/>
            <a:r>
              <a:rPr lang="pt-BR" sz="2200" dirty="0" err="1"/>
              <a:t>git</a:t>
            </a:r>
            <a:r>
              <a:rPr lang="pt-BR" sz="2200" dirty="0"/>
              <a:t> </a:t>
            </a:r>
            <a:r>
              <a:rPr lang="pt-BR" sz="2200" dirty="0" err="1"/>
              <a:t>branch</a:t>
            </a:r>
            <a:endParaRPr lang="pt-BR" sz="2200" dirty="0"/>
          </a:p>
          <a:p>
            <a:pPr algn="ctr"/>
            <a:r>
              <a:rPr lang="pt-BR" sz="2200" dirty="0" err="1"/>
              <a:t>git</a:t>
            </a:r>
            <a:r>
              <a:rPr lang="pt-BR" sz="2200" dirty="0"/>
              <a:t> </a:t>
            </a:r>
            <a:r>
              <a:rPr lang="pt-BR" sz="2200" dirty="0" err="1"/>
              <a:t>push</a:t>
            </a:r>
            <a:endParaRPr lang="pt-BR" sz="2200" dirty="0"/>
          </a:p>
          <a:p>
            <a:pPr algn="ctr"/>
            <a:endParaRPr lang="pt-BR" sz="2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F8040F8-DCBD-4883-AE59-86127126A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50" y="2465778"/>
            <a:ext cx="7756050" cy="310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93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>
            <a:spLocks noGrp="1"/>
          </p:cNvSpPr>
          <p:nvPr>
            <p:ph type="title" idx="4294967295"/>
          </p:nvPr>
        </p:nvSpPr>
        <p:spPr>
          <a:xfrm>
            <a:off x="335360" y="188640"/>
            <a:ext cx="105231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pt-BR" b="1" dirty="0">
                <a:solidFill>
                  <a:srgbClr val="002060"/>
                </a:solidFill>
              </a:rPr>
              <a:t>Subindo para o GitHub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4294967295"/>
          </p:nvPr>
        </p:nvSpPr>
        <p:spPr>
          <a:xfrm>
            <a:off x="471643" y="1330661"/>
            <a:ext cx="11142287" cy="78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22225" indent="0">
              <a:buSzPct val="100000"/>
              <a:buNone/>
            </a:pPr>
            <a:r>
              <a:rPr lang="pt-BR" sz="2200" dirty="0"/>
              <a:t>No GitHub aparecem os próximos comandos. Siga os indicados no seu repositório.</a:t>
            </a:r>
          </a:p>
        </p:txBody>
      </p:sp>
      <p:cxnSp>
        <p:nvCxnSpPr>
          <p:cNvPr id="8" name="Google Shape;86;g2205ff42217_0_3">
            <a:extLst>
              <a:ext uri="{FF2B5EF4-FFF2-40B4-BE49-F238E27FC236}">
                <a16:creationId xmlns:a16="http://schemas.microsoft.com/office/drawing/2014/main" id="{85A4C7DD-3CBA-4F69-BC2E-5DB2D9994AAF}"/>
              </a:ext>
            </a:extLst>
          </p:cNvPr>
          <p:cNvCxnSpPr>
            <a:cxnSpLocks/>
          </p:cNvCxnSpPr>
          <p:nvPr/>
        </p:nvCxnSpPr>
        <p:spPr>
          <a:xfrm>
            <a:off x="471644" y="1331640"/>
            <a:ext cx="1114228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457927F1-04C6-48A9-BC6F-A57992AD9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2" y="2260218"/>
            <a:ext cx="11147143" cy="130278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5AAA326-AE4A-4E3A-9731-C5D77F437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42" y="3974028"/>
            <a:ext cx="11142288" cy="208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709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>
            <a:spLocks noGrp="1"/>
          </p:cNvSpPr>
          <p:nvPr>
            <p:ph type="title" idx="4294967295"/>
          </p:nvPr>
        </p:nvSpPr>
        <p:spPr>
          <a:xfrm>
            <a:off x="335360" y="188640"/>
            <a:ext cx="105231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pt-BR" b="1" dirty="0">
                <a:solidFill>
                  <a:srgbClr val="002060"/>
                </a:solidFill>
              </a:rPr>
              <a:t>Testes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4294967295"/>
          </p:nvPr>
        </p:nvSpPr>
        <p:spPr>
          <a:xfrm>
            <a:off x="471643" y="1330661"/>
            <a:ext cx="11142287" cy="78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22225" indent="0">
              <a:buSzPct val="100000"/>
              <a:buNone/>
            </a:pPr>
            <a:r>
              <a:rPr lang="pt-BR" sz="2200" dirty="0"/>
              <a:t>Crie a pasta .</a:t>
            </a:r>
            <a:r>
              <a:rPr lang="pt-BR" sz="2200" dirty="0" err="1"/>
              <a:t>github</a:t>
            </a:r>
            <a:r>
              <a:rPr lang="pt-BR" sz="2200" dirty="0"/>
              <a:t>/workflows/</a:t>
            </a:r>
            <a:r>
              <a:rPr lang="pt-BR" sz="2200" dirty="0" err="1"/>
              <a:t>teste.yaml</a:t>
            </a:r>
            <a:endParaRPr lang="pt-BR" sz="2200" dirty="0"/>
          </a:p>
        </p:txBody>
      </p:sp>
      <p:cxnSp>
        <p:nvCxnSpPr>
          <p:cNvPr id="8" name="Google Shape;86;g2205ff42217_0_3">
            <a:extLst>
              <a:ext uri="{FF2B5EF4-FFF2-40B4-BE49-F238E27FC236}">
                <a16:creationId xmlns:a16="http://schemas.microsoft.com/office/drawing/2014/main" id="{85A4C7DD-3CBA-4F69-BC2E-5DB2D9994AAF}"/>
              </a:ext>
            </a:extLst>
          </p:cNvPr>
          <p:cNvCxnSpPr>
            <a:cxnSpLocks/>
          </p:cNvCxnSpPr>
          <p:nvPr/>
        </p:nvCxnSpPr>
        <p:spPr>
          <a:xfrm>
            <a:off x="471644" y="1331640"/>
            <a:ext cx="1114228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6237DDB7-E0BC-4D0E-8BB0-9FB88D1CA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29" y="2329597"/>
            <a:ext cx="10601777" cy="389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04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>
            <a:spLocks noGrp="1"/>
          </p:cNvSpPr>
          <p:nvPr>
            <p:ph type="title" idx="4294967295"/>
          </p:nvPr>
        </p:nvSpPr>
        <p:spPr>
          <a:xfrm>
            <a:off x="335360" y="188640"/>
            <a:ext cx="105231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pt-BR" b="1" dirty="0">
                <a:solidFill>
                  <a:srgbClr val="002060"/>
                </a:solidFill>
              </a:rPr>
              <a:t>Testes CI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4294967295"/>
          </p:nvPr>
        </p:nvSpPr>
        <p:spPr>
          <a:xfrm>
            <a:off x="471643" y="1330661"/>
            <a:ext cx="11142287" cy="78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22225" indent="0">
              <a:buSzPct val="100000"/>
              <a:buNone/>
            </a:pPr>
            <a:r>
              <a:rPr lang="pt-BR" sz="2200" dirty="0"/>
              <a:t>Crie o arquivo </a:t>
            </a:r>
            <a:r>
              <a:rPr lang="pt-BR" sz="2200" dirty="0" err="1"/>
              <a:t>testes_app.py</a:t>
            </a:r>
            <a:r>
              <a:rPr lang="pt-BR" sz="2200" dirty="0"/>
              <a:t> na mesma pasta que o arquivo </a:t>
            </a:r>
            <a:r>
              <a:rPr lang="pt-BR" sz="2200" dirty="0" err="1"/>
              <a:t>app.py</a:t>
            </a:r>
            <a:r>
              <a:rPr lang="pt-BR" sz="2200" dirty="0"/>
              <a:t>.</a:t>
            </a:r>
          </a:p>
        </p:txBody>
      </p:sp>
      <p:cxnSp>
        <p:nvCxnSpPr>
          <p:cNvPr id="8" name="Google Shape;86;g2205ff42217_0_3">
            <a:extLst>
              <a:ext uri="{FF2B5EF4-FFF2-40B4-BE49-F238E27FC236}">
                <a16:creationId xmlns:a16="http://schemas.microsoft.com/office/drawing/2014/main" id="{85A4C7DD-3CBA-4F69-BC2E-5DB2D9994AAF}"/>
              </a:ext>
            </a:extLst>
          </p:cNvPr>
          <p:cNvCxnSpPr>
            <a:cxnSpLocks/>
          </p:cNvCxnSpPr>
          <p:nvPr/>
        </p:nvCxnSpPr>
        <p:spPr>
          <a:xfrm>
            <a:off x="471644" y="1331640"/>
            <a:ext cx="1114228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06A8B1F1-73A1-4521-BC42-9FC414FA6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675" y="2518330"/>
            <a:ext cx="9871825" cy="955339"/>
          </a:xfrm>
          <a:prstGeom prst="rect">
            <a:avLst/>
          </a:prstGeom>
        </p:spPr>
      </p:pic>
      <p:sp>
        <p:nvSpPr>
          <p:cNvPr id="14" name="Google Shape;107;p7">
            <a:extLst>
              <a:ext uri="{FF2B5EF4-FFF2-40B4-BE49-F238E27FC236}">
                <a16:creationId xmlns:a16="http://schemas.microsoft.com/office/drawing/2014/main" id="{F87C2AC5-32A9-40CC-8910-DFA6C78BDD89}"/>
              </a:ext>
            </a:extLst>
          </p:cNvPr>
          <p:cNvSpPr txBox="1">
            <a:spLocks/>
          </p:cNvSpPr>
          <p:nvPr/>
        </p:nvSpPr>
        <p:spPr>
          <a:xfrm>
            <a:off x="471643" y="3600896"/>
            <a:ext cx="11142287" cy="78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43497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Helvetica Neue"/>
              <a:buChar char="•"/>
              <a:defRPr sz="2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22225" indent="0">
              <a:buSzPct val="100000"/>
              <a:buFont typeface="Helvetica Neue"/>
              <a:buNone/>
            </a:pPr>
            <a:r>
              <a:rPr lang="pt-BR" sz="2200"/>
              <a:t>Atualize o requirements.txt</a:t>
            </a:r>
            <a:endParaRPr lang="pt-BR" sz="22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C59DE7B-58FD-401C-9CEB-2A0C5C1E8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629" y="4704483"/>
            <a:ext cx="3442176" cy="147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63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>
            <a:spLocks noGrp="1"/>
          </p:cNvSpPr>
          <p:nvPr>
            <p:ph type="title" idx="4294967295"/>
          </p:nvPr>
        </p:nvSpPr>
        <p:spPr>
          <a:xfrm>
            <a:off x="335360" y="188640"/>
            <a:ext cx="105231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pt-BR" b="1" dirty="0">
                <a:solidFill>
                  <a:srgbClr val="002060"/>
                </a:solidFill>
              </a:rPr>
              <a:t>Atualize o GitHub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4294967295"/>
          </p:nvPr>
        </p:nvSpPr>
        <p:spPr>
          <a:xfrm>
            <a:off x="471643" y="1330661"/>
            <a:ext cx="11142287" cy="78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22225" indent="0">
              <a:buSzPct val="100000"/>
              <a:buNone/>
            </a:pPr>
            <a:r>
              <a:rPr lang="pt-BR" sz="2200" dirty="0"/>
              <a:t>Após editar os novos materiais, essa sequência de comandos atualiza o GitHub.</a:t>
            </a:r>
          </a:p>
        </p:txBody>
      </p:sp>
      <p:cxnSp>
        <p:nvCxnSpPr>
          <p:cNvPr id="8" name="Google Shape;86;g2205ff42217_0_3">
            <a:extLst>
              <a:ext uri="{FF2B5EF4-FFF2-40B4-BE49-F238E27FC236}">
                <a16:creationId xmlns:a16="http://schemas.microsoft.com/office/drawing/2014/main" id="{85A4C7DD-3CBA-4F69-BC2E-5DB2D9994AAF}"/>
              </a:ext>
            </a:extLst>
          </p:cNvPr>
          <p:cNvCxnSpPr>
            <a:cxnSpLocks/>
          </p:cNvCxnSpPr>
          <p:nvPr/>
        </p:nvCxnSpPr>
        <p:spPr>
          <a:xfrm>
            <a:off x="471644" y="1331640"/>
            <a:ext cx="1114228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3DBB7175-F92B-4633-A2CA-6BBFABA54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608" y="2473661"/>
            <a:ext cx="9273363" cy="274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39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>
            <a:spLocks noGrp="1"/>
          </p:cNvSpPr>
          <p:nvPr>
            <p:ph type="title" idx="4294967295"/>
          </p:nvPr>
        </p:nvSpPr>
        <p:spPr>
          <a:xfrm>
            <a:off x="335360" y="188640"/>
            <a:ext cx="105231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pt-BR" b="1" dirty="0">
                <a:solidFill>
                  <a:srgbClr val="002060"/>
                </a:solidFill>
              </a:rPr>
              <a:t>GitHub </a:t>
            </a:r>
            <a:r>
              <a:rPr lang="pt-BR" b="1" dirty="0" err="1">
                <a:solidFill>
                  <a:srgbClr val="002060"/>
                </a:solidFill>
              </a:rPr>
              <a:t>Actions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4294967295"/>
          </p:nvPr>
        </p:nvSpPr>
        <p:spPr>
          <a:xfrm>
            <a:off x="471643" y="1330661"/>
            <a:ext cx="11142287" cy="78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22225" indent="0">
              <a:buSzPct val="100000"/>
              <a:buNone/>
            </a:pPr>
            <a:r>
              <a:rPr lang="pt-BR" sz="2200" dirty="0"/>
              <a:t>Com sorte, deve ter sido um sucesso!</a:t>
            </a:r>
          </a:p>
        </p:txBody>
      </p:sp>
      <p:cxnSp>
        <p:nvCxnSpPr>
          <p:cNvPr id="8" name="Google Shape;86;g2205ff42217_0_3">
            <a:extLst>
              <a:ext uri="{FF2B5EF4-FFF2-40B4-BE49-F238E27FC236}">
                <a16:creationId xmlns:a16="http://schemas.microsoft.com/office/drawing/2014/main" id="{85A4C7DD-3CBA-4F69-BC2E-5DB2D9994AAF}"/>
              </a:ext>
            </a:extLst>
          </p:cNvPr>
          <p:cNvCxnSpPr>
            <a:cxnSpLocks/>
          </p:cNvCxnSpPr>
          <p:nvPr/>
        </p:nvCxnSpPr>
        <p:spPr>
          <a:xfrm>
            <a:off x="471644" y="1331640"/>
            <a:ext cx="1114228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DAD75080-92A8-4B47-B5E2-43A56E0D5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109" y="2646555"/>
            <a:ext cx="7855354" cy="31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697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body" idx="4294967295"/>
          </p:nvPr>
        </p:nvSpPr>
        <p:spPr>
          <a:xfrm>
            <a:off x="2788736" y="2796975"/>
            <a:ext cx="92400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Helvetica Neue"/>
              <a:buNone/>
            </a:pPr>
            <a:r>
              <a:rPr lang="pt-BR" sz="2200" dirty="0">
                <a:hlinkClick r:id="rId3"/>
              </a:rPr>
              <a:t>rafael.cavallari@anchieta.br</a:t>
            </a:r>
            <a:r>
              <a:rPr lang="pt-BR" sz="2200" dirty="0"/>
              <a:t> (Identificar com RA, Nome, Turma) </a:t>
            </a:r>
            <a:endParaRPr dirty="0"/>
          </a:p>
        </p:txBody>
      </p:sp>
      <p:pic>
        <p:nvPicPr>
          <p:cNvPr id="118" name="Google Shape;118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2244" y="2389288"/>
            <a:ext cx="1363592" cy="1363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/>
        </p:nvSpPr>
        <p:spPr>
          <a:xfrm>
            <a:off x="2637368" y="4058700"/>
            <a:ext cx="6624736" cy="81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2788728" y="4079975"/>
            <a:ext cx="84336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21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</a:t>
            </a:r>
            <a:r>
              <a:rPr lang="pt-BR" sz="21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www.linkedin.com</a:t>
            </a:r>
            <a:r>
              <a:rPr lang="pt-BR" sz="21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/in/rafael-cavallari-1919364a/</a:t>
            </a:r>
            <a:endParaRPr sz="21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91685" y="3938025"/>
            <a:ext cx="864716" cy="8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6;p7">
            <a:extLst>
              <a:ext uri="{FF2B5EF4-FFF2-40B4-BE49-F238E27FC236}">
                <a16:creationId xmlns:a16="http://schemas.microsoft.com/office/drawing/2014/main" id="{F062A18F-2A4C-4922-9148-01459E6F7040}"/>
              </a:ext>
            </a:extLst>
          </p:cNvPr>
          <p:cNvSpPr txBox="1">
            <a:spLocks/>
          </p:cNvSpPr>
          <p:nvPr/>
        </p:nvSpPr>
        <p:spPr>
          <a:xfrm>
            <a:off x="335360" y="18864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l"/>
            <a:r>
              <a:rPr lang="pt-BR" b="1">
                <a:solidFill>
                  <a:srgbClr val="002060"/>
                </a:solidFill>
              </a:rPr>
              <a:t>Contatos</a:t>
            </a:r>
            <a:endParaRPr lang="pt-BR" dirty="0">
              <a:solidFill>
                <a:srgbClr val="002060"/>
              </a:solidFill>
            </a:endParaRPr>
          </a:p>
        </p:txBody>
      </p:sp>
      <p:cxnSp>
        <p:nvCxnSpPr>
          <p:cNvPr id="10" name="Google Shape;86;g2205ff42217_0_3">
            <a:extLst>
              <a:ext uri="{FF2B5EF4-FFF2-40B4-BE49-F238E27FC236}">
                <a16:creationId xmlns:a16="http://schemas.microsoft.com/office/drawing/2014/main" id="{34CC3FEE-6C80-4564-97EA-FB50DFF90D6D}"/>
              </a:ext>
            </a:extLst>
          </p:cNvPr>
          <p:cNvCxnSpPr>
            <a:cxnSpLocks/>
          </p:cNvCxnSpPr>
          <p:nvPr/>
        </p:nvCxnSpPr>
        <p:spPr>
          <a:xfrm>
            <a:off x="471644" y="1331640"/>
            <a:ext cx="1114228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7" name="Google Shape;117;p18" descr="Resultado de imagem para contatos">
            <a:hlinkClick r:id="rId6"/>
          </p:cNvPr>
          <p:cNvPicPr preferRelativeResize="0">
            <a:picLocks noChangeAspect="1"/>
          </p:cNvPicPr>
          <p:nvPr/>
        </p:nvPicPr>
        <p:blipFill rotWithShape="1">
          <a:blip r:embed="rId7">
            <a:alphaModFix/>
          </a:blip>
          <a:srcRect l="48009"/>
          <a:stretch/>
        </p:blipFill>
        <p:spPr>
          <a:xfrm>
            <a:off x="8875142" y="62766"/>
            <a:ext cx="3026006" cy="126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474</Words>
  <Application>Microsoft Office PowerPoint</Application>
  <PresentationFormat>Widescreen</PresentationFormat>
  <Paragraphs>69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Helvetica Neue</vt:lpstr>
      <vt:lpstr>Calibri</vt:lpstr>
      <vt:lpstr>Helvetica Neue Light</vt:lpstr>
      <vt:lpstr>Arial</vt:lpstr>
      <vt:lpstr>Tema1</vt:lpstr>
      <vt:lpstr>Revisão</vt:lpstr>
      <vt:lpstr>Backend com Python</vt:lpstr>
      <vt:lpstr>Criando um projeto simples</vt:lpstr>
      <vt:lpstr>Estrutura do projeto</vt:lpstr>
      <vt:lpstr>O papel do Flask</vt:lpstr>
      <vt:lpstr>Completando o projeto</vt:lpstr>
      <vt:lpstr>Rodando a aplicação</vt:lpstr>
      <vt:lpstr>Subindo para o GitHub</vt:lpstr>
      <vt:lpstr>Subindo para o GitHub</vt:lpstr>
      <vt:lpstr>Subindo para o GitHub</vt:lpstr>
      <vt:lpstr>Testes</vt:lpstr>
      <vt:lpstr>Testes CI</vt:lpstr>
      <vt:lpstr>Atualize o GitHub</vt:lpstr>
      <vt:lpstr>GitHub Actions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Alexandre Brunetti</dc:creator>
  <cp:lastModifiedBy>Rafael Cavallari</cp:lastModifiedBy>
  <cp:revision>36</cp:revision>
  <dcterms:created xsi:type="dcterms:W3CDTF">2018-07-25T19:10:44Z</dcterms:created>
  <dcterms:modified xsi:type="dcterms:W3CDTF">2025-11-17T11:51:16Z</dcterms:modified>
</cp:coreProperties>
</file>